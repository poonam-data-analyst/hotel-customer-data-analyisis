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4"/>
  </p:sldMasterIdLst>
  <p:sldIdLst>
    <p:sldId id="256" r:id="rId5"/>
    <p:sldId id="259" r:id="rId6"/>
    <p:sldId id="261" r:id="rId7"/>
    <p:sldId id="268" r:id="rId8"/>
    <p:sldId id="272" r:id="rId9"/>
    <p:sldId id="271" r:id="rId10"/>
    <p:sldId id="270" r:id="rId11"/>
    <p:sldId id="269" r:id="rId12"/>
    <p:sldId id="277" r:id="rId13"/>
    <p:sldId id="276" r:id="rId14"/>
    <p:sldId id="275" r:id="rId15"/>
    <p:sldId id="274" r:id="rId16"/>
    <p:sldId id="278" r:id="rId17"/>
    <p:sldId id="285" r:id="rId18"/>
    <p:sldId id="280" r:id="rId19"/>
    <p:sldId id="284" r:id="rId20"/>
    <p:sldId id="262" r:id="rId21"/>
    <p:sldId id="265" r:id="rId22"/>
    <p:sldId id="26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88" d="100"/>
          <a:sy n="88" d="100"/>
        </p:scale>
        <p:origin x="31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455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75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97669AF7-7BEB-44E4-9852-375E34362B5B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4801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643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401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42338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040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A474-078D-4E9B-9B14-09A87B19DC46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38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7D986-8816-4272-A432-0437A28A9828}" type="datetime1">
              <a:rPr lang="en-US" smtClean="0"/>
              <a:t>3/24/2026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474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77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25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62D6E202-B606-4609-B914-27C9371A1F6D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582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3E2E3F3-7B61-A85E-CBA0-CA4B16DAF50A}"/>
              </a:ext>
            </a:extLst>
          </p:cNvPr>
          <p:cNvSpPr/>
          <p:nvPr/>
        </p:nvSpPr>
        <p:spPr>
          <a:xfrm>
            <a:off x="818275" y="2190158"/>
            <a:ext cx="1214438" cy="1238842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55BC24-C91E-7F7F-7C91-FA94154F4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420" y="1049359"/>
            <a:ext cx="9260205" cy="3443758"/>
          </a:xfrm>
        </p:spPr>
        <p:txBody>
          <a:bodyPr>
            <a:normAutofit/>
          </a:bodyPr>
          <a:lstStyle/>
          <a:p>
            <a:r>
              <a:rPr lang="en-US" sz="3600" b="1" dirty="0"/>
              <a:t>Unveiling Customer Insights: </a:t>
            </a:r>
            <a:br>
              <a:rPr lang="en-US" sz="3600" b="1" dirty="0"/>
            </a:br>
            <a:r>
              <a:rPr lang="en-US" sz="3600" b="1" dirty="0"/>
              <a:t>A Comprehensive Analysis of Hotel CUSTOMER DATASET</a:t>
            </a:r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1028" name="Picture 4" descr="Explore IIT Delhi Online Courses &amp; Certification | 2024">
            <a:extLst>
              <a:ext uri="{FF2B5EF4-FFF2-40B4-BE49-F238E27FC236}">
                <a16:creationId xmlns:a16="http://schemas.microsoft.com/office/drawing/2014/main" id="{D0A981C6-DFA1-D4B3-34F2-485C6CD57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2329" y="4902773"/>
            <a:ext cx="2062428" cy="2062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 flipV="1">
            <a:off x="-1" y="6095999"/>
            <a:ext cx="45719" cy="45719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3599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48E77-85BB-2DEA-A42E-3CE45A649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/>
              <a:t>Overview</a:t>
            </a:r>
            <a:r>
              <a:rPr lang="en-IN" sz="3600" b="1" dirty="0">
                <a:solidFill>
                  <a:srgbClr val="002060"/>
                </a:solidFill>
              </a:rPr>
              <a:t> </a:t>
            </a:r>
            <a:r>
              <a:rPr lang="en-IN" sz="3600" b="1" dirty="0"/>
              <a:t>of the Dataset: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33319-2AE5-5172-CF42-B1C5D87B8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romanU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Source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hotel in Lisbon, Portugal (2015–2018)</a:t>
            </a:r>
          </a:p>
          <a:p>
            <a:pPr marL="514350" indent="-514350">
              <a:buFont typeface="+mj-lt"/>
              <a:buAutoNum type="romanU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Characteristics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57250" lvl="1" indent="-400050">
              <a:buFont typeface="+mj-lt"/>
              <a:buAutoNum type="romanL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Customers: 83,590</a:t>
            </a:r>
          </a:p>
          <a:p>
            <a:pPr marL="857250" lvl="1" indent="-400050">
              <a:buFont typeface="+mj-lt"/>
              <a:buAutoNum type="romanL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Variables: 31 </a:t>
            </a:r>
          </a:p>
          <a:p>
            <a:pPr marL="857250" lvl="1" indent="-400050">
              <a:buFont typeface="+mj-lt"/>
              <a:buAutoNum type="romanL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personal, behavioral, demographic, and geographical data.</a:t>
            </a:r>
          </a:p>
          <a:p>
            <a:pPr marL="857250" lvl="1" indent="-400050">
              <a:buFont typeface="+mj-lt"/>
              <a:buAutoNum type="romanL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Types: Mixed (Raw and Pre-processed)</a:t>
            </a:r>
          </a:p>
          <a:p>
            <a:pPr marL="514350" indent="-514350">
              <a:buFont typeface="+mj-lt"/>
              <a:buAutoNum type="romanU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Applications: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57250" lvl="1" indent="-400050">
              <a:buFont typeface="+mj-lt"/>
              <a:buAutoNum type="romanL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 (Clustering, RFM modelling)</a:t>
            </a:r>
          </a:p>
          <a:p>
            <a:pPr marL="857250" lvl="1" indent="-400050">
              <a:buFont typeface="+mj-lt"/>
              <a:buAutoNum type="romanL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Classification, and regression problems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4" descr="Explore IIT Delhi Online Courses &amp; Certification | 2024">
            <a:extLst>
              <a:ext uri="{FF2B5EF4-FFF2-40B4-BE49-F238E27FC236}">
                <a16:creationId xmlns:a16="http://schemas.microsoft.com/office/drawing/2014/main" id="{DC520E3D-7E90-D7E3-1563-7A0AD8B806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2775" y="5148775"/>
            <a:ext cx="1709225" cy="1709225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257318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8A752-3CF8-071D-7EC4-6FBDF738A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/>
              <a:t>Summary of Variables: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FADD9C-7AFA-8615-0ABE-3343E4250504}"/>
              </a:ext>
            </a:extLst>
          </p:cNvPr>
          <p:cNvSpPr txBox="1"/>
          <p:nvPr/>
        </p:nvSpPr>
        <p:spPr>
          <a:xfrm>
            <a:off x="1063752" y="2093976"/>
            <a:ext cx="842781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buClr>
                <a:schemeClr val="accent2"/>
              </a:buClr>
              <a:buFont typeface="+mj-lt"/>
              <a:buAutoNum type="romanU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 Variables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971550" lvl="1" indent="-514350">
              <a:buClr>
                <a:schemeClr val="accent2"/>
              </a:buClr>
              <a:buFont typeface="+mj-lt"/>
              <a:buAutoNum type="romanL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Nationality: 188 unique values</a:t>
            </a:r>
          </a:p>
          <a:p>
            <a:pPr marL="971550" lvl="1" indent="-514350">
              <a:buClr>
                <a:schemeClr val="accent2"/>
              </a:buClr>
              <a:buFont typeface="+mj-lt"/>
              <a:buAutoNum type="romanL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Channel: 4 categories (e.g., Online, Travel Agent)</a:t>
            </a:r>
          </a:p>
          <a:p>
            <a:pPr marL="971550" lvl="1" indent="-514350">
              <a:buClr>
                <a:schemeClr val="accent2"/>
              </a:buClr>
              <a:buFont typeface="+mj-lt"/>
              <a:buAutoNum type="romanL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Segment: 7 categories (e.g., Leisure, Business)</a:t>
            </a:r>
          </a:p>
          <a:p>
            <a:pPr lvl="1">
              <a:buClr>
                <a:schemeClr val="accent2"/>
              </a:buClr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indent="-400050">
              <a:buClr>
                <a:schemeClr val="accent2"/>
              </a:buClr>
              <a:buFont typeface="+mj-lt"/>
              <a:buAutoNum type="romanU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Boolean Variables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971550" lvl="1" indent="-514350">
              <a:buClr>
                <a:schemeClr val="accent2"/>
              </a:buClr>
              <a:buFont typeface="+mj-lt"/>
              <a:buAutoNum type="romanL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 Preferences: High/Low Floor, King-size Bed, Quiet Room, etc.</a:t>
            </a:r>
          </a:p>
          <a:p>
            <a:pPr lvl="1">
              <a:buClr>
                <a:schemeClr val="accent2"/>
              </a:buClr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indent="-400050">
              <a:buClr>
                <a:schemeClr val="accent2"/>
              </a:buClr>
              <a:buFont typeface="+mj-lt"/>
              <a:buAutoNum type="romanU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 Variables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971550" lvl="1" indent="-514350">
              <a:buClr>
                <a:schemeClr val="accent2"/>
              </a:buClr>
              <a:buFont typeface="+mj-lt"/>
              <a:buAutoNum type="romanL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Age: Average 45 years</a:t>
            </a:r>
          </a:p>
          <a:p>
            <a:pPr marL="971550" lvl="1" indent="-514350">
              <a:buClr>
                <a:schemeClr val="accent2"/>
              </a:buClr>
              <a:buFont typeface="+mj-lt"/>
              <a:buAutoNum type="romanL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Lodging Revenue: Average €299/customer</a:t>
            </a:r>
          </a:p>
          <a:p>
            <a:pPr marL="971550" lvl="1" indent="-514350">
              <a:buClr>
                <a:schemeClr val="accent2"/>
              </a:buClr>
              <a:buFont typeface="+mj-lt"/>
              <a:buAutoNum type="romanL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 Nights: Average 2.36 nights/customer</a:t>
            </a:r>
          </a:p>
        </p:txBody>
      </p:sp>
      <p:pic>
        <p:nvPicPr>
          <p:cNvPr id="3" name="Picture 4" descr="Explore IIT Delhi Online Courses &amp; Certification | 2024">
            <a:extLst>
              <a:ext uri="{FF2B5EF4-FFF2-40B4-BE49-F238E27FC236}">
                <a16:creationId xmlns:a16="http://schemas.microsoft.com/office/drawing/2014/main" id="{96E5903D-A984-9B16-E978-B89861F6BE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2775" y="5148775"/>
            <a:ext cx="1709225" cy="1709225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754416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385A4-0D38-94D0-9A8D-D6D30781B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A8313-041A-5B13-127E-A46F0F0CE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752" y="231413"/>
            <a:ext cx="10058400" cy="1609344"/>
          </a:xfrm>
        </p:spPr>
        <p:txBody>
          <a:bodyPr>
            <a:normAutofit/>
          </a:bodyPr>
          <a:lstStyle/>
          <a:p>
            <a:r>
              <a:rPr lang="en-US" sz="3600" b="1" dirty="0"/>
              <a:t>Descriptive Analysis of the dataset:</a:t>
            </a:r>
            <a:br>
              <a:rPr lang="en-US" sz="3600" b="1" dirty="0"/>
            </a:b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9BA2F-7A43-A85E-0DE3-4E2F26EF9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752" y="1340694"/>
            <a:ext cx="10058400" cy="576845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</a:p>
          <a:p>
            <a:pPr marL="514350" indent="-514350">
              <a:buFont typeface="+mj-lt"/>
              <a:buAutoNum type="romanU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Summarizes and interprets data to understand characteristics and patterns.</a:t>
            </a:r>
          </a:p>
          <a:p>
            <a:pPr marL="514350" indent="-514350">
              <a:buFont typeface="+mj-lt"/>
              <a:buAutoNum type="romanU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statistical techniques without making predictions.</a:t>
            </a:r>
          </a:p>
          <a:p>
            <a:pPr marL="514350" indent="-514350">
              <a:buFont typeface="+mj-lt"/>
              <a:buAutoNum type="romanU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 analysis provides essential insights for decision-making and further analytical processes.</a:t>
            </a:r>
          </a:p>
          <a:p>
            <a:pPr marL="0" indent="0">
              <a:buNone/>
            </a:pPr>
            <a:endParaRPr lang="en-US" sz="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14350" indent="-514350">
              <a:buFont typeface="+mj-lt"/>
              <a:buAutoNum type="romanL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Statistics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Mean, median, mode, standard deviation.</a:t>
            </a:r>
          </a:p>
          <a:p>
            <a:pPr marL="514350" indent="-514350">
              <a:buFont typeface="+mj-lt"/>
              <a:buAutoNum type="romanL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Histograms, bar charts, box plots, heatmaps.</a:t>
            </a:r>
          </a:p>
          <a:p>
            <a:pPr marL="514350" indent="-514350">
              <a:buFont typeface="+mj-lt"/>
              <a:buAutoNum type="romanL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Distribution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Counts of value occurrences.</a:t>
            </a:r>
          </a:p>
          <a:p>
            <a:pPr marL="514350" indent="-514350">
              <a:buFont typeface="+mj-lt"/>
              <a:buAutoNum type="romanL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Tendency Measures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Mean, median, mode.</a:t>
            </a:r>
          </a:p>
          <a:p>
            <a:pPr marL="514350" indent="-514350">
              <a:buFont typeface="+mj-lt"/>
              <a:buAutoNum type="romanL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Variability Measures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Range, variance, standard deviation.</a:t>
            </a:r>
          </a:p>
          <a:p>
            <a:pPr marL="514350" indent="-514350">
              <a:buFont typeface="+mj-lt"/>
              <a:buAutoNum type="romanL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Analysis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Relationships between variables.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4" descr="Explore IIT Delhi Online Courses &amp; Certification | 2024">
            <a:extLst>
              <a:ext uri="{FF2B5EF4-FFF2-40B4-BE49-F238E27FC236}">
                <a16:creationId xmlns:a16="http://schemas.microsoft.com/office/drawing/2014/main" id="{97D3D599-260C-8F9F-AA30-F84A280C02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2775" y="5148775"/>
            <a:ext cx="1709225" cy="1709225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303190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17721-92AA-B066-17F0-F672178A5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4A023-568A-FD75-D033-DDAC16991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Descriptive Analysis of the dataset Contd.: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A3B3A-9943-D51D-43D9-AA59A910D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752" y="1971676"/>
            <a:ext cx="10064496" cy="5043487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57250" lvl="1" indent="-400050">
              <a:lnSpc>
                <a:spcPct val="100000"/>
              </a:lnSpc>
              <a:buFont typeface="+mj-lt"/>
              <a:buAutoNum type="romanL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data characteristics.</a:t>
            </a:r>
          </a:p>
          <a:p>
            <a:pPr marL="857250" lvl="1" indent="-400050">
              <a:lnSpc>
                <a:spcPct val="100000"/>
              </a:lnSpc>
              <a:buFont typeface="+mj-lt"/>
              <a:buAutoNum type="romanL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trends and anomalies.</a:t>
            </a:r>
          </a:p>
          <a:p>
            <a:pPr marL="857250" lvl="1" indent="-400050">
              <a:lnSpc>
                <a:spcPct val="100000"/>
              </a:lnSpc>
              <a:buFont typeface="+mj-lt"/>
              <a:buAutoNum type="romanL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Informing advanced analyses.</a:t>
            </a:r>
          </a:p>
          <a:p>
            <a:pPr marL="857250" lvl="1" indent="-400050">
              <a:lnSpc>
                <a:spcPct val="100000"/>
              </a:lnSpc>
              <a:buFont typeface="+mj-lt"/>
              <a:buAutoNum type="romanL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Checking data quality.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Hotel Customer Dataset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57250" lvl="1" indent="-400050">
              <a:lnSpc>
                <a:spcPct val="100000"/>
              </a:lnSpc>
              <a:buFont typeface="+mj-lt"/>
              <a:buAutoNum type="romanL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customer age.</a:t>
            </a:r>
          </a:p>
          <a:p>
            <a:pPr marL="857250" lvl="1" indent="-400050">
              <a:lnSpc>
                <a:spcPct val="100000"/>
              </a:lnSpc>
              <a:buFont typeface="+mj-lt"/>
              <a:buAutoNum type="romanL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lead time distribution.</a:t>
            </a:r>
          </a:p>
          <a:p>
            <a:pPr marL="857250" lvl="1" indent="-400050">
              <a:lnSpc>
                <a:spcPct val="100000"/>
              </a:lnSpc>
              <a:buFont typeface="+mj-lt"/>
              <a:buAutoNum type="romanL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nationalities.</a:t>
            </a:r>
          </a:p>
          <a:p>
            <a:pPr marL="857250" lvl="1" indent="-400050">
              <a:lnSpc>
                <a:spcPct val="100000"/>
              </a:lnSpc>
              <a:buFont typeface="+mj-lt"/>
              <a:buAutoNum type="romanL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of booking channels with revenue.</a:t>
            </a:r>
          </a:p>
          <a:p>
            <a:endParaRPr lang="en-US" dirty="0"/>
          </a:p>
        </p:txBody>
      </p:sp>
      <p:pic>
        <p:nvPicPr>
          <p:cNvPr id="4" name="Picture 4" descr="Explore IIT Delhi Online Courses &amp; Certification | 2024">
            <a:extLst>
              <a:ext uri="{FF2B5EF4-FFF2-40B4-BE49-F238E27FC236}">
                <a16:creationId xmlns:a16="http://schemas.microsoft.com/office/drawing/2014/main" id="{6DC4AFD0-09CE-7719-A0AD-1D881522DF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2775" y="5148775"/>
            <a:ext cx="1709225" cy="1709225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506830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BE5A9-1E2E-7917-C212-84EA256EC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D823E-8346-6D47-AD67-FAB2D1D7C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Clustering Analysis on Hotel Dataset:</a:t>
            </a:r>
            <a:br>
              <a:rPr lang="en-US" sz="3600" b="1" dirty="0"/>
            </a:b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228E9-86C7-42EB-6D2D-DF001CD93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752" y="1852582"/>
            <a:ext cx="9517190" cy="4150805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Clustering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Grouping similar data points together to identify patterns and segments.</a:t>
            </a:r>
          </a:p>
          <a:p>
            <a:pPr marL="0" indent="0">
              <a:buNone/>
            </a:pPr>
            <a:endParaRPr lang="en-US" sz="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14350" indent="-514350">
              <a:buFont typeface="+mj-lt"/>
              <a:buAutoNum type="romanU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Identifying distinct groups of customers based on their behavior and characteristics.</a:t>
            </a:r>
          </a:p>
          <a:p>
            <a:pPr marL="514350" indent="-514350">
              <a:buFont typeface="+mj-lt"/>
              <a:buAutoNum type="romanU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Marketing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Tailoring marketing strategies for different customer segments.</a:t>
            </a:r>
          </a:p>
          <a:p>
            <a:pPr marL="514350" indent="-514350">
              <a:buFont typeface="+mj-lt"/>
              <a:buAutoNum type="romanU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Services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Enhancing customer experiences based on segment-specific needs.</a:t>
            </a:r>
          </a:p>
          <a:p>
            <a:endParaRPr lang="en-US" dirty="0"/>
          </a:p>
        </p:txBody>
      </p:sp>
      <p:pic>
        <p:nvPicPr>
          <p:cNvPr id="4" name="Picture 4" descr="Explore IIT Delhi Online Courses &amp; Certification | 2024">
            <a:extLst>
              <a:ext uri="{FF2B5EF4-FFF2-40B4-BE49-F238E27FC236}">
                <a16:creationId xmlns:a16="http://schemas.microsoft.com/office/drawing/2014/main" id="{68AC4918-456D-22F5-98F2-617EEB43F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2775" y="5148775"/>
            <a:ext cx="1709225" cy="1709225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78121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D009B-8A8E-7D8F-AC2E-D5495B379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9B119-330B-D5D5-EF3B-7DE838C23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-109156"/>
            <a:ext cx="10058400" cy="1609344"/>
          </a:xfrm>
        </p:spPr>
        <p:txBody>
          <a:bodyPr>
            <a:normAutofit/>
          </a:bodyPr>
          <a:lstStyle/>
          <a:p>
            <a:r>
              <a:rPr lang="en-US" sz="3600" b="1" dirty="0"/>
              <a:t>Steps in Clustering</a:t>
            </a:r>
            <a:r>
              <a:rPr lang="en-US" sz="3600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FC953-C3A9-1D13-652D-53F710144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752" y="1071563"/>
            <a:ext cx="9837611" cy="5357812"/>
          </a:xfrm>
        </p:spPr>
        <p:txBody>
          <a:bodyPr>
            <a:normAutofit/>
          </a:bodyPr>
          <a:lstStyle/>
          <a:p>
            <a:pPr marL="571500" indent="-571500">
              <a:buFont typeface="+mj-lt"/>
              <a:buAutoNum type="romanU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preprocess data.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relevant features (e.g., age, booking behavior, revenue).</a:t>
            </a:r>
          </a:p>
          <a:p>
            <a:pPr marL="571500" indent="-571500">
              <a:buFont typeface="+mj-lt"/>
              <a:buAutoNum type="romanU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a Clustering Algorithm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K-Means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Commonly used for its simplicity and effectiveness.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Clustering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Useful for understanding data hierarchy.</a:t>
            </a:r>
          </a:p>
          <a:p>
            <a:pPr marL="571500" indent="-571500">
              <a:buFont typeface="+mj-lt"/>
              <a:buAutoNum type="romanU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Scaling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 or standardize data for better clustering results.</a:t>
            </a:r>
          </a:p>
          <a:p>
            <a:pPr marL="571500" indent="-571500">
              <a:buFont typeface="+mj-lt"/>
              <a:buAutoNum type="romanU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the Algorithm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 the chosen algorithm to the data.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optimal number of clusters (e.g., using the Elbow Method).</a:t>
            </a:r>
          </a:p>
          <a:p>
            <a:pPr marL="571500" indent="-571500">
              <a:buFont typeface="+mj-lt"/>
              <a:buAutoNum type="romanU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Results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 the clusters.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clusters using plots (e.g., scatter plots, dendrograms).</a:t>
            </a:r>
          </a:p>
          <a:p>
            <a:endParaRPr lang="en-US" dirty="0"/>
          </a:p>
        </p:txBody>
      </p:sp>
      <p:pic>
        <p:nvPicPr>
          <p:cNvPr id="4" name="Picture 4" descr="Explore IIT Delhi Online Courses &amp; Certification | 2024">
            <a:extLst>
              <a:ext uri="{FF2B5EF4-FFF2-40B4-BE49-F238E27FC236}">
                <a16:creationId xmlns:a16="http://schemas.microsoft.com/office/drawing/2014/main" id="{B99BFA22-798C-E73D-FDC8-2FBE963B58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2775" y="5148775"/>
            <a:ext cx="1709225" cy="1709225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852069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C457B-C79E-1C33-8CDA-34362D67F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28413-AEBF-1FE7-9F17-99A1A9C51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384619"/>
            <a:ext cx="10058400" cy="1609344"/>
          </a:xfrm>
        </p:spPr>
        <p:txBody>
          <a:bodyPr>
            <a:normAutofit/>
          </a:bodyPr>
          <a:lstStyle/>
          <a:p>
            <a:r>
              <a:rPr lang="en-US" sz="3600" b="1" dirty="0"/>
              <a:t>Cluster Characteristics - Cluster 1</a:t>
            </a:r>
            <a:br>
              <a:rPr lang="en-US" sz="3600" b="1" dirty="0"/>
            </a:b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F0211-7259-329A-FB7E-066276AFF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752" y="1617917"/>
            <a:ext cx="9591675" cy="53400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Nationality Distribution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Predominantly local customers from Portugal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Followed by France and the United Kingdom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Demographics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Mix of young adults and middle-aged travelers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Patterns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Tend to make Direct bookings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shorter lead times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Spending Habits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revenue per booking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Preference for premium services</a:t>
            </a:r>
          </a:p>
        </p:txBody>
      </p:sp>
      <p:pic>
        <p:nvPicPr>
          <p:cNvPr id="4" name="Picture 4" descr="Explore IIT Delhi Online Courses &amp; Certification | 2024">
            <a:extLst>
              <a:ext uri="{FF2B5EF4-FFF2-40B4-BE49-F238E27FC236}">
                <a16:creationId xmlns:a16="http://schemas.microsoft.com/office/drawing/2014/main" id="{FD5D2919-FEE0-B91E-B520-AFA83F193A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2775" y="5148775"/>
            <a:ext cx="1709225" cy="1709225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931465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7F86C-4CAA-3907-38C7-F174D651C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D19B9-7CCA-575A-6B44-8AC283322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752" y="270320"/>
            <a:ext cx="10058400" cy="1609344"/>
          </a:xfrm>
        </p:spPr>
        <p:txBody>
          <a:bodyPr>
            <a:normAutofit/>
          </a:bodyPr>
          <a:lstStyle/>
          <a:p>
            <a:r>
              <a:rPr lang="en-US" sz="3600" b="1" dirty="0"/>
              <a:t>Cluster Characteristics - Cluster 2</a:t>
            </a:r>
            <a:br>
              <a:rPr lang="en-US" sz="3600" b="1" dirty="0"/>
            </a:b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32015-AA87-76D2-102E-6AC9485202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752" y="1517904"/>
            <a:ext cx="9591675" cy="53400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Nationality Distribution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diverse with significant international presence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 travelers are from France, Germany and United Kingdom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Demographics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Mix of young adults and middle-aged travelers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Patterns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very short lead times, specifying impromptu customers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Bookings through Travel agents or operators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Spending Habits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less spending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sightseeing or other activities</a:t>
            </a:r>
          </a:p>
        </p:txBody>
      </p:sp>
      <p:pic>
        <p:nvPicPr>
          <p:cNvPr id="4" name="Picture 4" descr="Explore IIT Delhi Online Courses &amp; Certification | 2024">
            <a:extLst>
              <a:ext uri="{FF2B5EF4-FFF2-40B4-BE49-F238E27FC236}">
                <a16:creationId xmlns:a16="http://schemas.microsoft.com/office/drawing/2014/main" id="{AD252CF3-3646-F46A-B7EE-04C6B8043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2775" y="5148775"/>
            <a:ext cx="1709225" cy="1709225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790429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26140-35D8-3A02-1EA6-15A1F33B2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4C04D-6096-8569-A08F-6AC9FBBA2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Cluster Characteristics - Cluster 3</a:t>
            </a:r>
            <a:br>
              <a:rPr lang="en-US" sz="3600" b="1" dirty="0"/>
            </a:b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84B99-44A4-FB14-8386-BEB4551FC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721358"/>
            <a:ext cx="10058400" cy="465201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Nationality Distribution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proportion of international tourists from various countries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Demographics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Varied age group with the mean age in late 40s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Patterns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lead times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Bookings through Travel agents or operators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Spending Habits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revenue per booking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Interest in additional services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Leisure traveler's, with longer stays</a:t>
            </a:r>
          </a:p>
        </p:txBody>
      </p:sp>
      <p:pic>
        <p:nvPicPr>
          <p:cNvPr id="4" name="Picture 4" descr="Explore IIT Delhi Online Courses &amp; Certification | 2024">
            <a:extLst>
              <a:ext uri="{FF2B5EF4-FFF2-40B4-BE49-F238E27FC236}">
                <a16:creationId xmlns:a16="http://schemas.microsoft.com/office/drawing/2014/main" id="{AC83B452-D6EE-44D9-C29D-E41630DCB6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2775" y="5148775"/>
            <a:ext cx="1709225" cy="1709225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390654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830B0-5910-1110-991C-ACEA89BF4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89E1A-41F8-38C0-D9B8-93C664958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13156"/>
            <a:ext cx="10906125" cy="1609344"/>
          </a:xfrm>
        </p:spPr>
        <p:txBody>
          <a:bodyPr>
            <a:normAutofit/>
          </a:bodyPr>
          <a:lstStyle/>
          <a:p>
            <a:r>
              <a:rPr lang="en-US" sz="3600" b="1" dirty="0"/>
              <a:t>Improvement Suggestions to Maximize Revenue:</a:t>
            </a:r>
            <a:r>
              <a:rPr lang="en-US" sz="3600" dirty="0"/>
              <a:t/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BF390-2331-0F1C-A069-CF094C132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133284"/>
            <a:ext cx="10058400" cy="561156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romanUcPeriod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Targeted Marketing Campaigns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premium services and long-term stay packages specifically for Cluster 3.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personalized marketing efforts to attract high-spending international travelers.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Service Offerings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tailored services and amenities that cater to the preferences of international travelers.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exclusive packages for long-term stays to enhance customer satisfaction.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Loyalty Programs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loyalty programs that reward high spending and long stays.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 repeat bookings by offering incentives and benefits for returning customers.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Streamlined Booking Process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Simplify the booking process for travel agents to make it more convenient for them to book with your hotel.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exclusive deals and commissions to travel agents to encourage more bookings.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Insights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analyze booking patterns and customer preferences to adapt services and offerings.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data-driven insights to make informed decisions that align with the evolving needs of Cluster 3 customers.</a:t>
            </a:r>
          </a:p>
          <a:p>
            <a:endParaRPr lang="en-US" dirty="0"/>
          </a:p>
        </p:txBody>
      </p:sp>
      <p:pic>
        <p:nvPicPr>
          <p:cNvPr id="4" name="Picture 4" descr="Explore IIT Delhi Online Courses &amp; Certification | 2024">
            <a:extLst>
              <a:ext uri="{FF2B5EF4-FFF2-40B4-BE49-F238E27FC236}">
                <a16:creationId xmlns:a16="http://schemas.microsoft.com/office/drawing/2014/main" id="{05663B4A-2E68-5E56-1735-0C8971F207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2775" y="5148775"/>
            <a:ext cx="1709225" cy="1709225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653174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B14DB-380B-D6B7-61AD-E5935B74B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5A1D1-0612-9EC7-67C4-5E5A82211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671513"/>
            <a:ext cx="9412927" cy="1609344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Classification Model for Predicting Bookings Checked-In: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58317-7768-9AE2-0C3B-2B8B7896F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888236"/>
            <a:ext cx="9788652" cy="496976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To build a classification model that predicts whether a booking will result in a check-in.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Hotel booking data with various features related to customer bookings.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Steps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14350" indent="-514350">
              <a:buFont typeface="+mj-lt"/>
              <a:buAutoNum type="romanL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Handle missing values, remove duplicates, and correct inconsistencies.</a:t>
            </a:r>
          </a:p>
          <a:p>
            <a:pPr marL="514350" indent="-514350">
              <a:buFont typeface="+mj-lt"/>
              <a:buAutoNum type="romanL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Create new features from existing data to improve model performance.</a:t>
            </a:r>
          </a:p>
          <a:p>
            <a:pPr marL="514350" indent="-514350">
              <a:buFont typeface="+mj-lt"/>
              <a:buAutoNum type="romanL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Normalization/Scaling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Standardize the data to ensure all features contribute equally to the model.</a:t>
            </a:r>
          </a:p>
          <a:p>
            <a:endParaRPr lang="en-US" dirty="0"/>
          </a:p>
        </p:txBody>
      </p:sp>
      <p:pic>
        <p:nvPicPr>
          <p:cNvPr id="4" name="Picture 4" descr="Explore IIT Delhi Online Courses &amp; Certification | 2024">
            <a:extLst>
              <a:ext uri="{FF2B5EF4-FFF2-40B4-BE49-F238E27FC236}">
                <a16:creationId xmlns:a16="http://schemas.microsoft.com/office/drawing/2014/main" id="{BB8247D8-FAF9-BCB7-0505-220D487877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2775" y="5148775"/>
            <a:ext cx="1709225" cy="1709225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5706339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16928-5F59-FA3E-B7FD-039AFC196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2D97B-95DC-26E7-F512-55D217224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609344"/>
          </a:xfrm>
        </p:spPr>
        <p:txBody>
          <a:bodyPr>
            <a:normAutofit/>
          </a:bodyPr>
          <a:lstStyle/>
          <a:p>
            <a:r>
              <a:rPr lang="en-US" sz="3600" b="1" dirty="0"/>
              <a:t>Conclusion and Recommendations: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6171F-8CC5-F10B-0DDD-54500BEA3C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266795"/>
            <a:ext cx="10334625" cy="4736592"/>
          </a:xfrm>
        </p:spPr>
        <p:txBody>
          <a:bodyPr>
            <a:noAutofit/>
          </a:bodyPr>
          <a:lstStyle/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 marL="514350" indent="-514350">
              <a:lnSpc>
                <a:spcPct val="140000"/>
              </a:lnSpc>
              <a:spcBef>
                <a:spcPts val="0"/>
              </a:spcBef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identifies key features that significantly impact the likelihood of booking cancellations.</a:t>
            </a:r>
          </a:p>
          <a:p>
            <a:pPr marL="514350" indent="-514350">
              <a:lnSpc>
                <a:spcPct val="140000"/>
              </a:lnSpc>
              <a:spcBef>
                <a:spcPts val="0"/>
              </a:spcBef>
              <a:buFont typeface="+mj-lt"/>
              <a:buAutoNum type="romanL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Days Since Last Stay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most influential feature, followed by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 Nights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Days Since First Stay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lnSpc>
                <a:spcPct val="140000"/>
              </a:lnSpc>
              <a:spcBef>
                <a:spcPts val="0"/>
              </a:spcBef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these feature importances help us in developing strategies to minimize cancellations by focusing on recent stays, booking patterns, and additional services.</a:t>
            </a:r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Recommendations:</a:t>
            </a:r>
          </a:p>
          <a:p>
            <a:pPr marL="0" indent="-514350">
              <a:lnSpc>
                <a:spcPct val="140000"/>
              </a:lnSpc>
              <a:spcBef>
                <a:spcPts val="0"/>
              </a:spcBef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loyalty programs to encourage repeat stays and reduce cancellations.</a:t>
            </a:r>
          </a:p>
          <a:p>
            <a:pPr marL="0" indent="-514350">
              <a:lnSpc>
                <a:spcPct val="140000"/>
              </a:lnSpc>
              <a:spcBef>
                <a:spcPts val="0"/>
              </a:spcBef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booking patterns and offer incentives for longer stays.</a:t>
            </a:r>
          </a:p>
          <a:p>
            <a:pPr marL="0" indent="-514350">
              <a:lnSpc>
                <a:spcPct val="140000"/>
              </a:lnSpc>
              <a:spcBef>
                <a:spcPts val="0"/>
              </a:spcBef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customer experience with additional services to reduce the likelihood of cancellations.</a:t>
            </a:r>
          </a:p>
          <a:p>
            <a:endParaRPr lang="en-US" dirty="0"/>
          </a:p>
        </p:txBody>
      </p:sp>
      <p:pic>
        <p:nvPicPr>
          <p:cNvPr id="4" name="Picture 4" descr="Explore IIT Delhi Online Courses &amp; Certification | 2024">
            <a:extLst>
              <a:ext uri="{FF2B5EF4-FFF2-40B4-BE49-F238E27FC236}">
                <a16:creationId xmlns:a16="http://schemas.microsoft.com/office/drawing/2014/main" id="{86AC9A5B-DB2D-91AD-7547-A361269E7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2775" y="5148775"/>
            <a:ext cx="1709225" cy="1709225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4247552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32B0B-0298-1EED-9295-F39C049AA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52E45-2340-ACE1-114C-23CFC5FEF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97920"/>
            <a:ext cx="10058400" cy="1609344"/>
          </a:xfrm>
        </p:spPr>
        <p:txBody>
          <a:bodyPr>
            <a:noAutofit/>
          </a:bodyPr>
          <a:lstStyle/>
          <a:p>
            <a:r>
              <a:rPr lang="en-US" sz="3600" b="1" dirty="0"/>
              <a:t>Regression Prediction to Maximize Revenue for Hotel Dataset:</a:t>
            </a:r>
            <a:br>
              <a:rPr lang="en-US" sz="3600" b="1" dirty="0"/>
            </a:br>
            <a:r>
              <a:rPr lang="en-US" sz="3600" dirty="0"/>
              <a:t/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EA06F-0A08-0F58-E892-D40646CB9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694937"/>
            <a:ext cx="10420349" cy="492017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regression model to predict and maximize revenue based on customer and booking attributes in the hotel dataset.</a:t>
            </a:r>
          </a:p>
          <a:p>
            <a:pPr marL="0" indent="0">
              <a:buNone/>
            </a:pPr>
            <a:endParaRPr lang="en-US" sz="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involved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14350" indent="-514350">
              <a:lnSpc>
                <a:spcPct val="100000"/>
              </a:lnSpc>
              <a:buFont typeface="+mj-lt"/>
              <a:buAutoNum type="romanUcPeriod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Data Cleaning, Feature Engineering and Normalization/Scaling</a:t>
            </a:r>
          </a:p>
          <a:p>
            <a:pPr marL="514350" indent="-514350">
              <a:lnSpc>
                <a:spcPct val="100000"/>
              </a:lnSpc>
              <a:buFont typeface="+mj-lt"/>
              <a:buAutoNum type="romanUcPeriod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Selection: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all the relevant Feature like Lead time, Total Nights, Special requests etc..</a:t>
            </a:r>
          </a:p>
          <a:p>
            <a:pPr marL="514350" indent="-514350">
              <a:lnSpc>
                <a:spcPct val="100000"/>
              </a:lnSpc>
              <a:buFont typeface="+mj-lt"/>
              <a:buAutoNum type="romanUcPeriod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Selection: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and Linear Regression were used in this Capstone project</a:t>
            </a:r>
          </a:p>
          <a:p>
            <a:pPr marL="514350" indent="-514350">
              <a:lnSpc>
                <a:spcPct val="100000"/>
              </a:lnSpc>
              <a:buFont typeface="+mj-lt"/>
              <a:buAutoNum type="romanUcPeriod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Evaluation: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train and testing sets, train the model and generate various evaluation metrices</a:t>
            </a:r>
          </a:p>
          <a:p>
            <a:pPr marL="514350" indent="-514350">
              <a:lnSpc>
                <a:spcPct val="100000"/>
              </a:lnSpc>
              <a:buFont typeface="+mj-lt"/>
              <a:buAutoNum type="romanUcPeriod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Performance: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best model based on various evaluation matrices</a:t>
            </a:r>
          </a:p>
          <a:p>
            <a:pPr marL="514350" indent="-514350">
              <a:lnSpc>
                <a:spcPct val="100000"/>
              </a:lnSpc>
              <a:buFont typeface="+mj-lt"/>
              <a:buAutoNum type="romanUcPeriod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Importance: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important features </a:t>
            </a:r>
          </a:p>
        </p:txBody>
      </p:sp>
      <p:pic>
        <p:nvPicPr>
          <p:cNvPr id="4" name="Picture 4" descr="Explore IIT Delhi Online Courses &amp; Certification | 2024">
            <a:extLst>
              <a:ext uri="{FF2B5EF4-FFF2-40B4-BE49-F238E27FC236}">
                <a16:creationId xmlns:a16="http://schemas.microsoft.com/office/drawing/2014/main" id="{0350FE8E-052C-AB79-6182-1DE39C2C7E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7062" y="5163062"/>
            <a:ext cx="1694937" cy="1694937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123121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420F1-FA6C-541B-EEA0-5314491EF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E69A6-88CE-6C0B-BE1B-356245883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08906"/>
            <a:ext cx="10058400" cy="1609344"/>
          </a:xfrm>
        </p:spPr>
        <p:txBody>
          <a:bodyPr>
            <a:normAutofit/>
          </a:bodyPr>
          <a:lstStyle/>
          <a:p>
            <a:r>
              <a:rPr lang="en-US" sz="3600" b="1" dirty="0"/>
              <a:t>Random Forest Regression Results on Hotel Dataset: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8E163-2F4F-65C4-9162-FB4CCB556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1" y="1818250"/>
            <a:ext cx="9863138" cy="473659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explains 61% of the variance in revenue (R² = 0.61).</a:t>
            </a:r>
          </a:p>
          <a:p>
            <a:pPr marL="514350" indent="-514350">
              <a:buFont typeface="+mj-lt"/>
              <a:buAutoNum type="romanL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 Nights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most significant predictor of revenue, followed by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Persons Nights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Lead Time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notable features include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Days Since Last Stay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strategies to increase the number of room nights and person nights, like implement dynamic pricing strategies based on lead time and length of stay.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 early bookings to leverage the impact of lead time.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Tailor marketing efforts based on customer age and past stay history to maximize revenue.</a:t>
            </a:r>
          </a:p>
          <a:p>
            <a:endParaRPr lang="en-US" dirty="0"/>
          </a:p>
        </p:txBody>
      </p:sp>
      <p:pic>
        <p:nvPicPr>
          <p:cNvPr id="4" name="Picture 4" descr="Explore IIT Delhi Online Courses &amp; Certification | 2024">
            <a:extLst>
              <a:ext uri="{FF2B5EF4-FFF2-40B4-BE49-F238E27FC236}">
                <a16:creationId xmlns:a16="http://schemas.microsoft.com/office/drawing/2014/main" id="{E654BC9A-C2E5-FF08-EEDC-BB0D263AFB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2775" y="5096900"/>
            <a:ext cx="1709225" cy="1709225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2430263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2C2CC-04C5-D596-1877-F0E18D4FD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18941-BF63-AA3B-27BD-12DBD5089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987" y="842962"/>
            <a:ext cx="10058400" cy="1609344"/>
          </a:xfrm>
        </p:spPr>
        <p:txBody>
          <a:bodyPr>
            <a:normAutofit/>
          </a:bodyPr>
          <a:lstStyle/>
          <a:p>
            <a:r>
              <a:rPr lang="en-US" sz="6000" b="1" dirty="0"/>
              <a:t>Thank you !!!</a:t>
            </a:r>
          </a:p>
        </p:txBody>
      </p:sp>
      <p:pic>
        <p:nvPicPr>
          <p:cNvPr id="4" name="Picture 4" descr="Explore IIT Delhi Online Courses &amp; Certification | 2024">
            <a:extLst>
              <a:ext uri="{FF2B5EF4-FFF2-40B4-BE49-F238E27FC236}">
                <a16:creationId xmlns:a16="http://schemas.microsoft.com/office/drawing/2014/main" id="{02A06A23-5D7F-C956-C599-5B4822D303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2775" y="5148775"/>
            <a:ext cx="1709225" cy="1709225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2849898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04FD8-6DFD-280F-7DEE-DE6432716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9623593" cy="112231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Key Insights from Summary Statistics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4FCEF2-9BC7-0D8F-E171-539C4249EB91}"/>
              </a:ext>
            </a:extLst>
          </p:cNvPr>
          <p:cNvSpPr txBox="1"/>
          <p:nvPr/>
        </p:nvSpPr>
        <p:spPr>
          <a:xfrm>
            <a:off x="958721" y="2080051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Categorical Data</a:t>
            </a:r>
            <a:r>
              <a:rPr lang="en-IN" dirty="0"/>
              <a:t>: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1627718-6774-BFC2-04E0-4781215D36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868765"/>
              </p:ext>
            </p:extLst>
          </p:nvPr>
        </p:nvGraphicFramePr>
        <p:xfrm>
          <a:off x="1097280" y="2636006"/>
          <a:ext cx="9382126" cy="23043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99398">
                  <a:extLst>
                    <a:ext uri="{9D8B030D-6E8A-4147-A177-3AD203B41FA5}">
                      <a16:colId xmlns:a16="http://schemas.microsoft.com/office/drawing/2014/main" val="3467241065"/>
                    </a:ext>
                  </a:extLst>
                </a:gridCol>
                <a:gridCol w="1436902">
                  <a:extLst>
                    <a:ext uri="{9D8B030D-6E8A-4147-A177-3AD203B41FA5}">
                      <a16:colId xmlns:a16="http://schemas.microsoft.com/office/drawing/2014/main" val="2650325286"/>
                    </a:ext>
                  </a:extLst>
                </a:gridCol>
                <a:gridCol w="1817259">
                  <a:extLst>
                    <a:ext uri="{9D8B030D-6E8A-4147-A177-3AD203B41FA5}">
                      <a16:colId xmlns:a16="http://schemas.microsoft.com/office/drawing/2014/main" val="616725841"/>
                    </a:ext>
                  </a:extLst>
                </a:gridCol>
                <a:gridCol w="2028567">
                  <a:extLst>
                    <a:ext uri="{9D8B030D-6E8A-4147-A177-3AD203B41FA5}">
                      <a16:colId xmlns:a16="http://schemas.microsoft.com/office/drawing/2014/main" val="476609521"/>
                    </a:ext>
                  </a:extLst>
                </a:gridCol>
              </a:tblGrid>
              <a:tr h="41326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Variable</a:t>
                      </a:r>
                      <a:endParaRPr lang="en-IN" sz="1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Count</a:t>
                      </a:r>
                      <a:endParaRPr lang="en-IN" sz="1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Unique</a:t>
                      </a:r>
                      <a:endParaRPr lang="en-IN" sz="1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Max Frequency</a:t>
                      </a:r>
                      <a:endParaRPr lang="en-IN" sz="1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707810"/>
                  </a:ext>
                </a:extLst>
              </a:tr>
              <a:tr h="37821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>
                          <a:effectLst/>
                        </a:rPr>
                        <a:t>Nationality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>
                          <a:effectLst/>
                        </a:rPr>
                        <a:t>83590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>
                          <a:effectLst/>
                        </a:rPr>
                        <a:t>188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effectLst/>
                        </a:rPr>
                        <a:t>12422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49074147"/>
                  </a:ext>
                </a:extLst>
              </a:tr>
              <a:tr h="37821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effectLst/>
                        </a:rPr>
                        <a:t>Name Hash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>
                          <a:effectLst/>
                        </a:rPr>
                        <a:t>83590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>
                          <a:effectLst/>
                        </a:rPr>
                        <a:t>80642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>
                          <a:effectLst/>
                        </a:rPr>
                        <a:t>47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3353581"/>
                  </a:ext>
                </a:extLst>
              </a:tr>
              <a:tr h="37821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effectLst/>
                        </a:rPr>
                        <a:t>Doc ID Hash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>
                          <a:effectLst/>
                        </a:rPr>
                        <a:t>83590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>
                          <a:effectLst/>
                        </a:rPr>
                        <a:t>76993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>
                          <a:effectLst/>
                        </a:rPr>
                        <a:t>3657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37844714"/>
                  </a:ext>
                </a:extLst>
              </a:tr>
              <a:tr h="37821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effectLst/>
                        </a:rPr>
                        <a:t>Distribution Channel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>
                          <a:effectLst/>
                        </a:rPr>
                        <a:t>83590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>
                          <a:effectLst/>
                        </a:rPr>
                        <a:t>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>
                          <a:effectLst/>
                        </a:rPr>
                        <a:t>68569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88862532"/>
                  </a:ext>
                </a:extLst>
              </a:tr>
              <a:tr h="37821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effectLst/>
                        </a:rPr>
                        <a:t>Market Segment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>
                          <a:effectLst/>
                        </a:rPr>
                        <a:t>83590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>
                          <a:effectLst/>
                        </a:rPr>
                        <a:t>7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u="none" strike="noStrike" dirty="0">
                          <a:effectLst/>
                        </a:rPr>
                        <a:t>48039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13558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41881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A26EA30-C863-2659-C8B5-60760450E5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Boolean Data</a:t>
            </a:r>
            <a:r>
              <a:rPr lang="en-IN" dirty="0"/>
              <a:t>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B3F4369-AFDF-0719-AF9F-24D707C7F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7718892"/>
              </p:ext>
            </p:extLst>
          </p:nvPr>
        </p:nvGraphicFramePr>
        <p:xfrm>
          <a:off x="1436914" y="2127379"/>
          <a:ext cx="9442579" cy="39188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78909">
                  <a:extLst>
                    <a:ext uri="{9D8B030D-6E8A-4147-A177-3AD203B41FA5}">
                      <a16:colId xmlns:a16="http://schemas.microsoft.com/office/drawing/2014/main" val="403577270"/>
                    </a:ext>
                  </a:extLst>
                </a:gridCol>
                <a:gridCol w="1208425">
                  <a:extLst>
                    <a:ext uri="{9D8B030D-6E8A-4147-A177-3AD203B41FA5}">
                      <a16:colId xmlns:a16="http://schemas.microsoft.com/office/drawing/2014/main" val="3535755524"/>
                    </a:ext>
                  </a:extLst>
                </a:gridCol>
                <a:gridCol w="1208425">
                  <a:extLst>
                    <a:ext uri="{9D8B030D-6E8A-4147-A177-3AD203B41FA5}">
                      <a16:colId xmlns:a16="http://schemas.microsoft.com/office/drawing/2014/main" val="1055750252"/>
                    </a:ext>
                  </a:extLst>
                </a:gridCol>
                <a:gridCol w="1348940">
                  <a:extLst>
                    <a:ext uri="{9D8B030D-6E8A-4147-A177-3AD203B41FA5}">
                      <a16:colId xmlns:a16="http://schemas.microsoft.com/office/drawing/2014/main" val="2518207326"/>
                    </a:ext>
                  </a:extLst>
                </a:gridCol>
                <a:gridCol w="1348940">
                  <a:extLst>
                    <a:ext uri="{9D8B030D-6E8A-4147-A177-3AD203B41FA5}">
                      <a16:colId xmlns:a16="http://schemas.microsoft.com/office/drawing/2014/main" val="1752673961"/>
                    </a:ext>
                  </a:extLst>
                </a:gridCol>
                <a:gridCol w="1348940">
                  <a:extLst>
                    <a:ext uri="{9D8B030D-6E8A-4147-A177-3AD203B41FA5}">
                      <a16:colId xmlns:a16="http://schemas.microsoft.com/office/drawing/2014/main" val="2229605064"/>
                    </a:ext>
                  </a:extLst>
                </a:gridCol>
              </a:tblGrid>
              <a:tr h="27991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Variable</a:t>
                      </a:r>
                      <a:endParaRPr lang="en-IN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Count</a:t>
                      </a:r>
                      <a:endParaRPr lang="en-IN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No</a:t>
                      </a:r>
                      <a:endParaRPr lang="en-IN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Yes</a:t>
                      </a:r>
                      <a:endParaRPr lang="en-IN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No(0)%</a:t>
                      </a:r>
                      <a:endParaRPr lang="en-IN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Yes(1)%</a:t>
                      </a:r>
                      <a:endParaRPr lang="en-IN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177515"/>
                  </a:ext>
                </a:extLst>
              </a:tr>
              <a:tr h="27991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SR High Floor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83590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79621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3969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95.25%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4.75%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58312314"/>
                  </a:ext>
                </a:extLst>
              </a:tr>
              <a:tr h="27991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SR Low Floor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83590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83472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118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99.86%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0.14%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09105156"/>
                  </a:ext>
                </a:extLst>
              </a:tr>
              <a:tr h="27991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SR Accessible Room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83590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83569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21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99.97%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0.03%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7345156"/>
                  </a:ext>
                </a:extLst>
              </a:tr>
              <a:tr h="27991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SR Medium Floor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83590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83517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73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99.91%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0.09%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89504380"/>
                  </a:ext>
                </a:extLst>
              </a:tr>
              <a:tr h="27991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SR Bath tub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83590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83352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238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99.72%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0.28%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28898396"/>
                  </a:ext>
                </a:extLst>
              </a:tr>
              <a:tr h="27991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SR Shower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83590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83447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143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99.83%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0.17%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28804629"/>
                  </a:ext>
                </a:extLst>
              </a:tr>
              <a:tr h="27991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SR Crib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83590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82485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1105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98.68%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1.32%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23070539"/>
                  </a:ext>
                </a:extLst>
              </a:tr>
              <a:tr h="27991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SR King Size Bed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83590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54109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29481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64.73%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35.27%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72874581"/>
                  </a:ext>
                </a:extLst>
              </a:tr>
              <a:tr h="27991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SRT win Bed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83590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71675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11915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85.75%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14.25%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55819413"/>
                  </a:ext>
                </a:extLst>
              </a:tr>
              <a:tr h="27991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SR Near Elevator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83590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83562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28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99.97%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0.03%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2675379"/>
                  </a:ext>
                </a:extLst>
              </a:tr>
              <a:tr h="27991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SR Away From Elevator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83590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83297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293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99.65%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0.35%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86426660"/>
                  </a:ext>
                </a:extLst>
              </a:tr>
              <a:tr h="27991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SR No Alcohol In Mini Bar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83590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83580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10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99.99%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0.01%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02836323"/>
                  </a:ext>
                </a:extLst>
              </a:tr>
              <a:tr h="27991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SR Quiet Room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83590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76203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7387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91.16%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8.84%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481436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88830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9DE61-981E-55FC-B0FE-485B99215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i="0" u="none" strike="noStrike" baseline="0" dirty="0">
                <a:solidFill>
                  <a:srgbClr val="000000"/>
                </a:solidFill>
                <a:latin typeface="GKCGH N+ Gulliver"/>
              </a:rPr>
              <a:t>Summary statistics - Numeric variables </a:t>
            </a:r>
            <a:endParaRPr lang="en-IN" sz="44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41FFD89-B3C6-4986-784E-7858BF4BF7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7175"/>
              </p:ext>
            </p:extLst>
          </p:nvPr>
        </p:nvGraphicFramePr>
        <p:xfrm>
          <a:off x="1097280" y="2133600"/>
          <a:ext cx="10408918" cy="4114796"/>
        </p:xfrm>
        <a:graphic>
          <a:graphicData uri="http://schemas.openxmlformats.org/drawingml/2006/table">
            <a:tbl>
              <a:tblPr/>
              <a:tblGrid>
                <a:gridCol w="1960516">
                  <a:extLst>
                    <a:ext uri="{9D8B030D-6E8A-4147-A177-3AD203B41FA5}">
                      <a16:colId xmlns:a16="http://schemas.microsoft.com/office/drawing/2014/main" val="390264379"/>
                    </a:ext>
                  </a:extLst>
                </a:gridCol>
                <a:gridCol w="687191">
                  <a:extLst>
                    <a:ext uri="{9D8B030D-6E8A-4147-A177-3AD203B41FA5}">
                      <a16:colId xmlns:a16="http://schemas.microsoft.com/office/drawing/2014/main" val="2360028693"/>
                    </a:ext>
                  </a:extLst>
                </a:gridCol>
                <a:gridCol w="869094">
                  <a:extLst>
                    <a:ext uri="{9D8B030D-6E8A-4147-A177-3AD203B41FA5}">
                      <a16:colId xmlns:a16="http://schemas.microsoft.com/office/drawing/2014/main" val="1867081852"/>
                    </a:ext>
                  </a:extLst>
                </a:gridCol>
                <a:gridCol w="970151">
                  <a:extLst>
                    <a:ext uri="{9D8B030D-6E8A-4147-A177-3AD203B41FA5}">
                      <a16:colId xmlns:a16="http://schemas.microsoft.com/office/drawing/2014/main" val="1107696418"/>
                    </a:ext>
                  </a:extLst>
                </a:gridCol>
                <a:gridCol w="970151">
                  <a:extLst>
                    <a:ext uri="{9D8B030D-6E8A-4147-A177-3AD203B41FA5}">
                      <a16:colId xmlns:a16="http://schemas.microsoft.com/office/drawing/2014/main" val="1495294150"/>
                    </a:ext>
                  </a:extLst>
                </a:gridCol>
                <a:gridCol w="970151">
                  <a:extLst>
                    <a:ext uri="{9D8B030D-6E8A-4147-A177-3AD203B41FA5}">
                      <a16:colId xmlns:a16="http://schemas.microsoft.com/office/drawing/2014/main" val="595928943"/>
                    </a:ext>
                  </a:extLst>
                </a:gridCol>
                <a:gridCol w="970151">
                  <a:extLst>
                    <a:ext uri="{9D8B030D-6E8A-4147-A177-3AD203B41FA5}">
                      <a16:colId xmlns:a16="http://schemas.microsoft.com/office/drawing/2014/main" val="3313877259"/>
                    </a:ext>
                  </a:extLst>
                </a:gridCol>
                <a:gridCol w="2142419">
                  <a:extLst>
                    <a:ext uri="{9D8B030D-6E8A-4147-A177-3AD203B41FA5}">
                      <a16:colId xmlns:a16="http://schemas.microsoft.com/office/drawing/2014/main" val="822887728"/>
                    </a:ext>
                  </a:extLst>
                </a:gridCol>
                <a:gridCol w="869094">
                  <a:extLst>
                    <a:ext uri="{9D8B030D-6E8A-4147-A177-3AD203B41FA5}">
                      <a16:colId xmlns:a16="http://schemas.microsoft.com/office/drawing/2014/main" val="1328898272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Variable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Count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Mean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Min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Max.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555106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83590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41795.5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24130.35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20897.5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41795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62692.8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83590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79318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Age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79811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45.398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16.572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728306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DaysSinceCreation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83590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453.641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313.388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1095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81131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AverageLeadtime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83590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66.196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87.758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029192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LodgingRevenue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83590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298.802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372.85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21781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862228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Other Revenue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83590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67.589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114.327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38.5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87.675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7730.25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58701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BookingsCanceled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83590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99906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BookingsNoShowed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83590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12103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BookingsCheckedIn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83590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0.795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0.696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897567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PersonsNights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83590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4.649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4.568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00911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RoomNights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83590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2.359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2.282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57534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DaysSinceLastStay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83590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401.067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347.203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7535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DaysSinceFirstStay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83590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403.349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347.969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1186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092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11648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{2D03100F-96F5-5C47-BA90-7F78232DDB29}tf10001070</Template>
  <TotalTime>1751</TotalTime>
  <Words>1422</Words>
  <Application>Microsoft Office PowerPoint</Application>
  <PresentationFormat>Widescreen</PresentationFormat>
  <Paragraphs>400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Calibri</vt:lpstr>
      <vt:lpstr>GKCGH N+ Gulliver</vt:lpstr>
      <vt:lpstr>Rockwell</vt:lpstr>
      <vt:lpstr>Rockwell Condensed</vt:lpstr>
      <vt:lpstr>Rockwell Extra Bold</vt:lpstr>
      <vt:lpstr>Times New Roman</vt:lpstr>
      <vt:lpstr>Wingdings</vt:lpstr>
      <vt:lpstr>Wood Type</vt:lpstr>
      <vt:lpstr>Unveiling Customer Insights:  A Comprehensive Analysis of Hotel CUSTOMER DATASET</vt:lpstr>
      <vt:lpstr>Overview of the Dataset:</vt:lpstr>
      <vt:lpstr>Summary of Variables:</vt:lpstr>
      <vt:lpstr>Descriptive Analysis of the dataset: </vt:lpstr>
      <vt:lpstr>Descriptive Analysis of the dataset Contd.:</vt:lpstr>
      <vt:lpstr>Clustering Analysis on Hotel Dataset: </vt:lpstr>
      <vt:lpstr>Steps in Clustering:</vt:lpstr>
      <vt:lpstr>Cluster Characteristics - Cluster 1 </vt:lpstr>
      <vt:lpstr>Cluster Characteristics - Cluster 2 </vt:lpstr>
      <vt:lpstr>Cluster Characteristics - Cluster 3 </vt:lpstr>
      <vt:lpstr>Improvement Suggestions to Maximize Revenue: </vt:lpstr>
      <vt:lpstr>Classification Model for Predicting Bookings Checked-In: </vt:lpstr>
      <vt:lpstr>Conclusion and Recommendations:</vt:lpstr>
      <vt:lpstr>Regression Prediction to Maximize Revenue for Hotel Dataset:  </vt:lpstr>
      <vt:lpstr>Random Forest Regression Results on Hotel Dataset:</vt:lpstr>
      <vt:lpstr>Thank you !!!</vt:lpstr>
      <vt:lpstr>Key Insights from Summary Statistics</vt:lpstr>
      <vt:lpstr>Boolean Data:</vt:lpstr>
      <vt:lpstr>Summary statistics - Numeric variables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Unveiling Customer Insights:  A Comprehensive Analysis of Hotel CUSTOMER DATASET</dc:title>
  <dc:creator>Yogyata Srivastava</dc:creator>
  <cp:lastModifiedBy>Admin</cp:lastModifiedBy>
  <cp:revision>19</cp:revision>
  <dcterms:created xsi:type="dcterms:W3CDTF">2024-12-26T06:35:23Z</dcterms:created>
  <dcterms:modified xsi:type="dcterms:W3CDTF">2026-03-24T18:19:08Z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